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François Bilodeau" userId="4caff03e-1e37-473d-a379-0b023415c78f" providerId="ADAL" clId="{93ABBC4D-B6C8-43F5-86EF-67A1FFF8D173}"/>
    <pc:docChg chg="custSel mod modSld">
      <pc:chgData name="Jean-François Bilodeau" userId="4caff03e-1e37-473d-a379-0b023415c78f" providerId="ADAL" clId="{93ABBC4D-B6C8-43F5-86EF-67A1FFF8D173}" dt="2026-06-02T14:58:54.128" v="7" actId="33475"/>
      <pc:docMkLst>
        <pc:docMk/>
      </pc:docMkLst>
      <pc:sldChg chg="modSp mod">
        <pc:chgData name="Jean-François Bilodeau" userId="4caff03e-1e37-473d-a379-0b023415c78f" providerId="ADAL" clId="{93ABBC4D-B6C8-43F5-86EF-67A1FFF8D173}" dt="2026-06-01T17:51:20.560" v="4" actId="20577"/>
        <pc:sldMkLst>
          <pc:docMk/>
          <pc:sldMk cId="0" sldId="262"/>
        </pc:sldMkLst>
        <pc:spChg chg="mod">
          <ac:chgData name="Jean-François Bilodeau" userId="4caff03e-1e37-473d-a379-0b023415c78f" providerId="ADAL" clId="{93ABBC4D-B6C8-43F5-86EF-67A1FFF8D173}" dt="2026-06-01T17:51:20.385" v="0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0.443" v="1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0.480" v="2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0.512" v="3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0.560" v="4" actId="20577"/>
          <ac:spMkLst>
            <pc:docMk/>
            <pc:sldMk cId="0" sldId="262"/>
            <ac:spMk id="26" creationId="{00000000-0000-0000-0000-000000000000}"/>
          </ac:spMkLst>
        </pc:spChg>
      </pc:sldChg>
      <pc:sldChg chg="modSp mod">
        <pc:chgData name="Jean-François Bilodeau" userId="4caff03e-1e37-473d-a379-0b023415c78f" providerId="ADAL" clId="{93ABBC4D-B6C8-43F5-86EF-67A1FFF8D173}" dt="2026-06-01T17:51:21.053" v="6" actId="20577"/>
        <pc:sldMkLst>
          <pc:docMk/>
          <pc:sldMk cId="0" sldId="265"/>
        </pc:sldMkLst>
        <pc:spChg chg="mod">
          <ac:chgData name="Jean-François Bilodeau" userId="4caff03e-1e37-473d-a379-0b023415c78f" providerId="ADAL" clId="{93ABBC4D-B6C8-43F5-86EF-67A1FFF8D173}" dt="2026-06-01T17:51:21.053" v="6" actId="20577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22-40E9-AE2E-8487F2121356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22-40E9-AE2E-8487F2121356}"/>
              </c:ext>
            </c:extLst>
          </c:dPt>
          <c:dPt>
            <c:idx val="2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22-40E9-AE2E-8487F2121356}"/>
              </c:ext>
            </c:extLst>
          </c:dPt>
          <c:dPt>
            <c:idx val="3"/>
            <c:bubble3D val="0"/>
            <c:spPr>
              <a:solidFill>
                <a:srgbClr val="2D8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22-40E9-AE2E-8487F2121356}"/>
              </c:ext>
            </c:extLst>
          </c:dPt>
          <c:dPt>
            <c:idx val="4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22-40E9-AE2E-8487F2121356}"/>
              </c:ext>
            </c:extLst>
          </c:dPt>
          <c:dPt>
            <c:idx val="5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22-40E9-AE2E-8487F2121356}"/>
              </c:ext>
            </c:extLst>
          </c:dPt>
          <c:dPt>
            <c:idx val="6"/>
            <c:bubble3D val="0"/>
            <c:spPr>
              <a:solidFill>
                <a:srgbClr val="5A6C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622-40E9-AE2E-8487F2121356}"/>
              </c:ext>
            </c:extLst>
          </c:dPt>
          <c:dPt>
            <c:idx val="7"/>
            <c:bubble3D val="0"/>
            <c:spPr>
              <a:solidFill>
                <a:srgbClr val="8BA4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622-40E9-AE2E-8487F2121356}"/>
              </c:ext>
            </c:extLst>
          </c:dPt>
          <c:dPt>
            <c:idx val="8"/>
            <c:bubble3D val="0"/>
            <c:spPr>
              <a:solidFill>
                <a:srgbClr val="212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622-40E9-AE2E-8487F2121356}"/>
              </c:ext>
            </c:extLst>
          </c:dPt>
          <c:dPt>
            <c:idx val="9"/>
            <c:bubble3D val="0"/>
            <c:spPr>
              <a:solidFill>
                <a:srgbClr val="A3C4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622-40E9-AE2E-8487F212135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22-40E9-AE2E-8487F212135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22-40E9-AE2E-8487F212135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22-40E9-AE2E-8487F212135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22-40E9-AE2E-8487F212135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22-40E9-AE2E-8487F212135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22-40E9-AE2E-8487F2121356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622-40E9-AE2E-8487F2121356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622-40E9-AE2E-8487F2121356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622-40E9-AE2E-8487F2121356}"/>
                </c:ext>
              </c:extLst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622-40E9-AE2E-8487F21213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Project Management</c:v>
                </c:pt>
                <c:pt idx="1">
                  <c:v>COTS Licence</c:v>
                </c:pt>
                <c:pt idx="2">
                  <c:v>Custom Extensions</c:v>
                </c:pt>
                <c:pt idx="3">
                  <c:v>Core Configuration</c:v>
                </c:pt>
                <c:pt idx="4">
                  <c:v>Copilot (Design + Build)</c:v>
                </c:pt>
                <c:pt idx="5">
                  <c:v>COTS Support</c:v>
                </c:pt>
                <c:pt idx="6">
                  <c:v>Data Mapping + Migration</c:v>
                </c:pt>
                <c:pt idx="7">
                  <c:v>Localisation</c:v>
                </c:pt>
                <c:pt idx="8">
                  <c:v>Training Design</c:v>
                </c:pt>
                <c:pt idx="9">
                  <c:v>Security &amp; Compliance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760</c:v>
                </c:pt>
                <c:pt idx="1">
                  <c:v>650</c:v>
                </c:pt>
                <c:pt idx="2">
                  <c:v>485</c:v>
                </c:pt>
                <c:pt idx="3">
                  <c:v>480</c:v>
                </c:pt>
                <c:pt idx="4">
                  <c:v>415</c:v>
                </c:pt>
                <c:pt idx="5">
                  <c:v>300</c:v>
                </c:pt>
                <c:pt idx="6">
                  <c:v>205</c:v>
                </c:pt>
                <c:pt idx="7">
                  <c:v>205</c:v>
                </c:pt>
                <c:pt idx="8">
                  <c:v>100</c:v>
                </c:pt>
                <c:pt idx="9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622-40E9-AE2E-8487F2121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 (CAD 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Jul 25</c:v>
                </c:pt>
                <c:pt idx="1">
                  <c:v>Aug 25</c:v>
                </c:pt>
                <c:pt idx="2">
                  <c:v>Sep 25</c:v>
                </c:pt>
                <c:pt idx="3">
                  <c:v>Oct 25</c:v>
                </c:pt>
                <c:pt idx="4">
                  <c:v>Nov 25</c:v>
                </c:pt>
                <c:pt idx="5">
                  <c:v>Dec 25</c:v>
                </c:pt>
                <c:pt idx="6">
                  <c:v>Jan 26</c:v>
                </c:pt>
                <c:pt idx="7">
                  <c:v>Feb 26</c:v>
                </c:pt>
                <c:pt idx="8">
                  <c:v>Mar 26</c:v>
                </c:pt>
                <c:pt idx="9">
                  <c:v>Apr 26</c:v>
                </c:pt>
                <c:pt idx="10">
                  <c:v>May 26</c:v>
                </c:pt>
                <c:pt idx="11">
                  <c:v>Jun 26</c:v>
                </c:pt>
                <c:pt idx="12">
                  <c:v>Jul 26</c:v>
                </c:pt>
                <c:pt idx="13">
                  <c:v>Aug 26</c:v>
                </c:pt>
                <c:pt idx="14">
                  <c:v>Sep 26</c:v>
                </c:pt>
                <c:pt idx="15">
                  <c:v>Oct 26</c:v>
                </c:pt>
                <c:pt idx="16">
                  <c:v>Nov 26</c:v>
                </c:pt>
                <c:pt idx="17">
                  <c:v>Dec 26</c:v>
                </c:pt>
                <c:pt idx="18">
                  <c:v>Jan 27</c:v>
                </c:pt>
                <c:pt idx="19">
                  <c:v>Feb 27</c:v>
                </c:pt>
                <c:pt idx="20">
                  <c:v>Mar 27</c:v>
                </c:pt>
                <c:pt idx="21">
                  <c:v>Apr 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70</c:v>
                </c:pt>
                <c:pt idx="1">
                  <c:v>80</c:v>
                </c:pt>
                <c:pt idx="2">
                  <c:v>75</c:v>
                </c:pt>
                <c:pt idx="3">
                  <c:v>75</c:v>
                </c:pt>
                <c:pt idx="4">
                  <c:v>80</c:v>
                </c:pt>
                <c:pt idx="5">
                  <c:v>70</c:v>
                </c:pt>
                <c:pt idx="6">
                  <c:v>170</c:v>
                </c:pt>
                <c:pt idx="7">
                  <c:v>175</c:v>
                </c:pt>
                <c:pt idx="8">
                  <c:v>205</c:v>
                </c:pt>
                <c:pt idx="9">
                  <c:v>205</c:v>
                </c:pt>
                <c:pt idx="10">
                  <c:v>165</c:v>
                </c:pt>
                <c:pt idx="11">
                  <c:v>165</c:v>
                </c:pt>
                <c:pt idx="12">
                  <c:v>180</c:v>
                </c:pt>
                <c:pt idx="13">
                  <c:v>190</c:v>
                </c:pt>
                <c:pt idx="14">
                  <c:v>830</c:v>
                </c:pt>
                <c:pt idx="15">
                  <c:v>150</c:v>
                </c:pt>
                <c:pt idx="16">
                  <c:v>145</c:v>
                </c:pt>
                <c:pt idx="17">
                  <c:v>105</c:v>
                </c:pt>
                <c:pt idx="18">
                  <c:v>115</c:v>
                </c:pt>
                <c:pt idx="19">
                  <c:v>265</c:v>
                </c:pt>
                <c:pt idx="20">
                  <c:v>100</c:v>
                </c:pt>
                <c:pt idx="2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F-40D7-AB60-2BD23BA7C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C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C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99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abstract-digital-illustration-of-interconne_2026-04-29T14-13-20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5000"/>
            </a:srgbClr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ORDO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0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Your New Task Management Platform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TaskStar  ·  Go-Live: 1 March 2027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Approved Budget: CAD $4,015,000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Ordo?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Ordo will deliver a modern enterprise task-tracking solution to replace the legacy TaskStar system — becoming the single system of record for task management across the organization.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05676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960120" y="21799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8972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42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Configurable COTS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54575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off-the-shelf platform customized to our organizational needs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905676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983480" y="21799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28972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1342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0" y="254575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for English, French, and Spanish at launch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" y="3780196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1"/>
          <p:cNvSpPr/>
          <p:nvPr/>
        </p:nvSpPr>
        <p:spPr>
          <a:xfrm>
            <a:off x="960120" y="40545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16424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087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M365 Copilot Ready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42027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Microsoft 365 Copilot for AI-powered task management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3780196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0" name="Shape 15"/>
          <p:cNvSpPr/>
          <p:nvPr/>
        </p:nvSpPr>
        <p:spPr>
          <a:xfrm>
            <a:off x="4983480" y="40545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416424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40087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Migration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69280" y="442027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data migration from TaskStar with zero data loss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Changing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is being retired. Here's what you need to know about the transition.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2491740"/>
            <a:ext cx="6583680" cy="45720"/>
          </a:xfrm>
          <a:prstGeom prst="rect">
            <a:avLst/>
          </a:prstGeom>
          <a:solidFill>
            <a:srgbClr val="E8EDF0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TaskStar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0116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219456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2011680"/>
            <a:ext cx="1005840" cy="10058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384048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Go-Live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 2027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0116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548640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Hypercare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Period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Mar–Apr 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713232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TaskStar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May 2027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will stop accepting new entries after the one-time data migration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remains read-only until 1 May 2027 for reference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66344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11887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tasks will be available in Ordo post-migration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596896" y="1280160"/>
            <a:ext cx="36576" cy="3017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2551176" y="1216152"/>
            <a:ext cx="128016" cy="128016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Kick-off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51176" y="17190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Configuration Complete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51176" y="22219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Complete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51176" y="27249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Integration &amp; Localization Ready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51176" y="32278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 Ready (EN/FR/ES)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23744" y="3703320"/>
            <a:ext cx="182880" cy="18288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 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 Go-Live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51176" y="4233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 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Decommissioned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D0ECE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Calendar Integration planned for Q3 2027 as a future enhancement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Approved Budget: CAD $4,015,000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3716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508760"/>
            <a:ext cx="164592" cy="16459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51206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$760K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46320" y="185623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512064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Licence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1810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203704"/>
            <a:ext cx="164592" cy="164592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5120640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Extensions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80960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$485K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2551176"/>
            <a:ext cx="164592" cy="164592"/>
          </a:xfrm>
          <a:prstGeom prst="rect">
            <a:avLst/>
          </a:prstGeom>
          <a:solidFill>
            <a:srgbClr val="2D8B75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/>
          <p:nvPr/>
        </p:nvSpPr>
        <p:spPr>
          <a:xfrm>
            <a:off x="5120640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Configuration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80960" y="2505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2898648"/>
            <a:ext cx="164592" cy="16459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8" name="Text 15"/>
          <p:cNvSpPr/>
          <p:nvPr/>
        </p:nvSpPr>
        <p:spPr>
          <a:xfrm>
            <a:off x="5120640" y="2852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(Design + Build)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28529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$415K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3246120"/>
            <a:ext cx="164592" cy="164592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1" name="Text 18"/>
          <p:cNvSpPr/>
          <p:nvPr/>
        </p:nvSpPr>
        <p:spPr>
          <a:xfrm>
            <a:off x="512064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Support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680960" y="3200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3593592"/>
            <a:ext cx="164592" cy="164592"/>
          </a:xfrm>
          <a:prstGeom prst="rect">
            <a:avLst/>
          </a:prstGeom>
          <a:solidFill>
            <a:srgbClr val="5A6C7D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4" name="Text 21"/>
          <p:cNvSpPr/>
          <p:nvPr/>
        </p:nvSpPr>
        <p:spPr>
          <a:xfrm>
            <a:off x="5120640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 + Migration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80960" y="35478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$205K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46320" y="3941064"/>
            <a:ext cx="164592" cy="164592"/>
          </a:xfrm>
          <a:prstGeom prst="rect">
            <a:avLst/>
          </a:prstGeom>
          <a:solidFill>
            <a:srgbClr val="8BA4B5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7" name="Text 24"/>
          <p:cNvSpPr/>
          <p:nvPr/>
        </p:nvSpPr>
        <p:spPr>
          <a:xfrm>
            <a:off x="5120640" y="3895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680960" y="38953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$205K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4288536"/>
            <a:ext cx="164592" cy="16459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0" name="Text 27"/>
          <p:cNvSpPr/>
          <p:nvPr/>
        </p:nvSpPr>
        <p:spPr>
          <a:xfrm>
            <a:off x="5120640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Design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680960" y="4242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46320" y="4636008"/>
            <a:ext cx="164592" cy="164592"/>
          </a:xfrm>
          <a:prstGeom prst="rect">
            <a:avLst/>
          </a:prstGeom>
          <a:solidFill>
            <a:srgbClr val="A3C4D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3" name="Text 30"/>
          <p:cNvSpPr/>
          <p:nvPr/>
        </p:nvSpPr>
        <p:spPr>
          <a:xfrm>
            <a:off x="5120640" y="4590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80960" y="4590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Spend Profile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thousands — July 2025 through April 2027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Licence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Project Team</a:t>
            </a:r>
            <a:endParaRPr lang="en-US" sz="3600" dirty="0"/>
          </a:p>
        </p:txBody>
      </p:sp>
      <p:pic>
        <p:nvPicPr>
          <p:cNvPr id="3" name="Image 0" descr="/agent/turn1/workspace/images/professional-photograph-of-a-diverse-corporate-tea_2026-04-29T14-14-27_image_DAS_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74320"/>
            <a:ext cx="301752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71600"/>
            <a:ext cx="4754880" cy="658368"/>
          </a:xfrm>
          <a:prstGeom prst="rect">
            <a:avLst/>
          </a:prstGeom>
          <a:solidFill>
            <a:srgbClr val="F0F5F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64008" cy="65836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10058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Irvin Sayers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464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" y="1709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day-to-day project delivery and coordination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139696"/>
            <a:ext cx="47548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731520" y="2139696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10058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Nestor Wilke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3464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Sponsor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478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accountable for strategic decisions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907792"/>
            <a:ext cx="4754880" cy="658368"/>
          </a:xfrm>
          <a:prstGeom prst="rect">
            <a:avLst/>
          </a:prstGeom>
          <a:solidFill>
            <a:srgbClr val="F0F5F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5" name="Shape 12"/>
          <p:cNvSpPr/>
          <p:nvPr/>
        </p:nvSpPr>
        <p:spPr>
          <a:xfrm>
            <a:off x="731520" y="2907792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/>
          <p:nvPr/>
        </p:nvSpPr>
        <p:spPr>
          <a:xfrm>
            <a:off x="100584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Diego Siciliani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3464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business readiness, communications, and training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" y="3675888"/>
            <a:ext cx="47548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0" name="Shape 17"/>
          <p:cNvSpPr/>
          <p:nvPr/>
        </p:nvSpPr>
        <p:spPr>
          <a:xfrm>
            <a:off x="731520" y="3675888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1" name="Text 18"/>
          <p:cNvSpPr/>
          <p:nvPr/>
        </p:nvSpPr>
        <p:spPr>
          <a:xfrm>
            <a:off x="10058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Lidia Holloway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8346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05840" y="40142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requirements and product configuration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4443984"/>
            <a:ext cx="4754880" cy="658368"/>
          </a:xfrm>
          <a:prstGeom prst="rect">
            <a:avLst/>
          </a:prstGeom>
          <a:solidFill>
            <a:srgbClr val="F0F5F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5" name="Shape 22"/>
          <p:cNvSpPr/>
          <p:nvPr/>
        </p:nvSpPr>
        <p:spPr>
          <a:xfrm>
            <a:off x="731520" y="4443984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6" name="Text 23"/>
          <p:cNvSpPr/>
          <p:nvPr/>
        </p:nvSpPr>
        <p:spPr>
          <a:xfrm>
            <a:off x="1005840" y="4517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Allan Deyoung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834640" y="4517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05840" y="4782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information security and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&amp; Mitigations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1005840" y="1353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61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Resistance to Change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91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communication campaigns and multilingual training materials across English, French, and Spanish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Shape 6"/>
          <p:cNvSpPr/>
          <p:nvPr/>
        </p:nvSpPr>
        <p:spPr>
          <a:xfrm>
            <a:off x="1005840" y="22219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317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130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Migration Issues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9164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test migrations planned before the February 2027 production cutover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Shape 10"/>
          <p:cNvSpPr/>
          <p:nvPr/>
        </p:nvSpPr>
        <p:spPr>
          <a:xfrm>
            <a:off x="1005840" y="3090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2004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2999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Integration Delays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91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as a non-negotiable delivery — dedicated team and early design phase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" y="37947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Shape 14"/>
          <p:cNvSpPr/>
          <p:nvPr/>
        </p:nvSpPr>
        <p:spPr>
          <a:xfrm>
            <a:off x="1005840" y="3959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06908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3867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Incomplete Localization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69164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scope locked early with validation checkpoints before go-live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Success Looks Like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users adopt Ordo within 3 months of go-live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2801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42900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0332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TaskStar data available post-migration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630936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usable at launch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Languages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French, and Spanish on day 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8803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3429000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70332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disruption during TaskStar retirement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art-showing-data-migration-concep_2026-04-29T14-13-2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Ready for Ordo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0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simpler, smarter way to manage your tasks — launching 1 March 2027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 Project Ordo team</a:t>
            </a:r>
            <a:endParaRPr lang="en-US" sz="1300" dirty="0"/>
          </a:p>
          <a:p>
            <a:pPr marL="0" indent="0">
              <a:buNone/>
            </a:pPr>
            <a:r>
              <a:rPr lang="en-US" sz="1300">
                <a:solidFill>
                  <a:srgbClr val="A3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Lead: Irvin Sayers  ·  Sponsor: Nestor Wilke (CTO)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513</Words>
  <Application>Microsoft Office PowerPoint</Application>
  <PresentationFormat>Affichage à l'écran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Jean-François Bilodeau</dc:creator>
  <cp:lastModifiedBy>Jean-François Bilodeau</cp:lastModifiedBy>
  <cp:revision>2</cp:revision>
  <dcterms:created xsi:type="dcterms:W3CDTF">2026-04-29T14:10:39Z</dcterms:created>
  <dcterms:modified xsi:type="dcterms:W3CDTF">2026-06-02T17:20:00Z</dcterms:modified>
</cp:coreProperties>
</file>