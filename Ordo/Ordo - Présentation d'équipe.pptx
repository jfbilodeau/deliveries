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92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François Bilodeau" userId="4caff03e-1e37-473d-a379-0b023415c78f" providerId="ADAL" clId="{93ABBC4D-B6C8-43F5-86EF-67A1FFF8D173}"/>
    <pc:docChg chg="custSel modSld">
      <pc:chgData name="Jean-François Bilodeau" userId="4caff03e-1e37-473d-a379-0b023415c78f" providerId="ADAL" clId="{93ABBC4D-B6C8-43F5-86EF-67A1FFF8D173}" dt="2026-06-01T17:51:25.335" v="7" actId="20577"/>
      <pc:docMkLst>
        <pc:docMk/>
      </pc:docMkLst>
      <pc:sldChg chg="modSp mod">
        <pc:chgData name="Jean-François Bilodeau" userId="4caff03e-1e37-473d-a379-0b023415c78f" providerId="ADAL" clId="{93ABBC4D-B6C8-43F5-86EF-67A1FFF8D173}" dt="2026-06-01T17:51:24.883" v="5" actId="20577"/>
        <pc:sldMkLst>
          <pc:docMk/>
          <pc:sldMk cId="0" sldId="262"/>
        </pc:sldMkLst>
        <pc:spChg chg="mod">
          <ac:chgData name="Jean-François Bilodeau" userId="4caff03e-1e37-473d-a379-0b023415c78f" providerId="ADAL" clId="{93ABBC4D-B6C8-43F5-86EF-67A1FFF8D173}" dt="2026-06-01T17:51:24.649" v="1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Jean-François Bilodeau" userId="4caff03e-1e37-473d-a379-0b023415c78f" providerId="ADAL" clId="{93ABBC4D-B6C8-43F5-86EF-67A1FFF8D173}" dt="2026-06-01T17:51:24.704" v="2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ean-François Bilodeau" userId="4caff03e-1e37-473d-a379-0b023415c78f" providerId="ADAL" clId="{93ABBC4D-B6C8-43F5-86EF-67A1FFF8D173}" dt="2026-06-01T17:51:24.745" v="3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Jean-François Bilodeau" userId="4caff03e-1e37-473d-a379-0b023415c78f" providerId="ADAL" clId="{93ABBC4D-B6C8-43F5-86EF-67A1FFF8D173}" dt="2026-06-01T17:51:24.812" v="4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Jean-François Bilodeau" userId="4caff03e-1e37-473d-a379-0b023415c78f" providerId="ADAL" clId="{93ABBC4D-B6C8-43F5-86EF-67A1FFF8D173}" dt="2026-06-01T17:51:24.883" v="5" actId="20577"/>
          <ac:spMkLst>
            <pc:docMk/>
            <pc:sldMk cId="0" sldId="262"/>
            <ac:spMk id="26" creationId="{00000000-0000-0000-0000-000000000000}"/>
          </ac:spMkLst>
        </pc:spChg>
      </pc:sldChg>
      <pc:sldChg chg="modSp mod">
        <pc:chgData name="Jean-François Bilodeau" userId="4caff03e-1e37-473d-a379-0b023415c78f" providerId="ADAL" clId="{93ABBC4D-B6C8-43F5-86EF-67A1FFF8D173}" dt="2026-06-01T17:51:25.335" v="7" actId="20577"/>
        <pc:sldMkLst>
          <pc:docMk/>
          <pc:sldMk cId="0" sldId="265"/>
        </pc:sldMkLst>
        <pc:spChg chg="mod">
          <ac:chgData name="Jean-François Bilodeau" userId="4caff03e-1e37-473d-a379-0b023415c78f" providerId="ADAL" clId="{93ABBC4D-B6C8-43F5-86EF-67A1FFF8D173}" dt="2026-06-01T17:51:25.335" v="7" actId="20577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22-40E9-AE2E-8487F2121356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22-40E9-AE2E-8487F2121356}"/>
              </c:ext>
            </c:extLst>
          </c:dPt>
          <c:dPt>
            <c:idx val="2"/>
            <c:bubble3D val="0"/>
            <c:spPr>
              <a:solidFill>
                <a:srgbClr val="149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22-40E9-AE2E-8487F2121356}"/>
              </c:ext>
            </c:extLst>
          </c:dPt>
          <c:dPt>
            <c:idx val="3"/>
            <c:bubble3D val="0"/>
            <c:spPr>
              <a:solidFill>
                <a:srgbClr val="2D8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22-40E9-AE2E-8487F2121356}"/>
              </c:ext>
            </c:extLst>
          </c:dPt>
          <c:dPt>
            <c:idx val="4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22-40E9-AE2E-8487F2121356}"/>
              </c:ext>
            </c:extLst>
          </c:dPt>
          <c:dPt>
            <c:idx val="5"/>
            <c:bubble3D val="0"/>
            <c:spPr>
              <a:solidFill>
                <a:srgbClr val="D49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622-40E9-AE2E-8487F2121356}"/>
              </c:ext>
            </c:extLst>
          </c:dPt>
          <c:dPt>
            <c:idx val="6"/>
            <c:bubble3D val="0"/>
            <c:spPr>
              <a:solidFill>
                <a:srgbClr val="5A6C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622-40E9-AE2E-8487F2121356}"/>
              </c:ext>
            </c:extLst>
          </c:dPt>
          <c:dPt>
            <c:idx val="7"/>
            <c:bubble3D val="0"/>
            <c:spPr>
              <a:solidFill>
                <a:srgbClr val="8BA4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622-40E9-AE2E-8487F2121356}"/>
              </c:ext>
            </c:extLst>
          </c:dPt>
          <c:dPt>
            <c:idx val="8"/>
            <c:bubble3D val="0"/>
            <c:spPr>
              <a:solidFill>
                <a:srgbClr val="212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622-40E9-AE2E-8487F2121356}"/>
              </c:ext>
            </c:extLst>
          </c:dPt>
          <c:dPt>
            <c:idx val="9"/>
            <c:bubble3D val="0"/>
            <c:spPr>
              <a:solidFill>
                <a:srgbClr val="A3C4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622-40E9-AE2E-8487F212135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22-40E9-AE2E-8487F212135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22-40E9-AE2E-8487F212135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22-40E9-AE2E-8487F212135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22-40E9-AE2E-8487F212135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22-40E9-AE2E-8487F2121356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622-40E9-AE2E-8487F2121356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622-40E9-AE2E-8487F2121356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622-40E9-AE2E-8487F2121356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622-40E9-AE2E-8487F2121356}"/>
                </c:ext>
              </c:extLst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622-40E9-AE2E-8487F212135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Project Management</c:v>
                </c:pt>
                <c:pt idx="1">
                  <c:v>COTS Licence</c:v>
                </c:pt>
                <c:pt idx="2">
                  <c:v>Custom Extensions</c:v>
                </c:pt>
                <c:pt idx="3">
                  <c:v>Core Configuration</c:v>
                </c:pt>
                <c:pt idx="4">
                  <c:v>Copilot (Design + Build)</c:v>
                </c:pt>
                <c:pt idx="5">
                  <c:v>COTS Support</c:v>
                </c:pt>
                <c:pt idx="6">
                  <c:v>Data Mapping + Migration</c:v>
                </c:pt>
                <c:pt idx="7">
                  <c:v>Localisation</c:v>
                </c:pt>
                <c:pt idx="8">
                  <c:v>Training Design</c:v>
                </c:pt>
                <c:pt idx="9">
                  <c:v>Security &amp; Compliance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760</c:v>
                </c:pt>
                <c:pt idx="1">
                  <c:v>650</c:v>
                </c:pt>
                <c:pt idx="2">
                  <c:v>485</c:v>
                </c:pt>
                <c:pt idx="3">
                  <c:v>480</c:v>
                </c:pt>
                <c:pt idx="4">
                  <c:v>415</c:v>
                </c:pt>
                <c:pt idx="5">
                  <c:v>300</c:v>
                </c:pt>
                <c:pt idx="6">
                  <c:v>205</c:v>
                </c:pt>
                <c:pt idx="7">
                  <c:v>205</c:v>
                </c:pt>
                <c:pt idx="8">
                  <c:v>100</c:v>
                </c:pt>
                <c:pt idx="9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622-40E9-AE2E-8487F21213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Spend (CAD K)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Jul 25</c:v>
                </c:pt>
                <c:pt idx="1">
                  <c:v>Aug 25</c:v>
                </c:pt>
                <c:pt idx="2">
                  <c:v>Sep 25</c:v>
                </c:pt>
                <c:pt idx="3">
                  <c:v>Oct 25</c:v>
                </c:pt>
                <c:pt idx="4">
                  <c:v>Nov 25</c:v>
                </c:pt>
                <c:pt idx="5">
                  <c:v>Dec 25</c:v>
                </c:pt>
                <c:pt idx="6">
                  <c:v>Jan 26</c:v>
                </c:pt>
                <c:pt idx="7">
                  <c:v>Feb 26</c:v>
                </c:pt>
                <c:pt idx="8">
                  <c:v>Mar 26</c:v>
                </c:pt>
                <c:pt idx="9">
                  <c:v>Apr 26</c:v>
                </c:pt>
                <c:pt idx="10">
                  <c:v>May 26</c:v>
                </c:pt>
                <c:pt idx="11">
                  <c:v>Jun 26</c:v>
                </c:pt>
                <c:pt idx="12">
                  <c:v>Jul 26</c:v>
                </c:pt>
                <c:pt idx="13">
                  <c:v>Aug 26</c:v>
                </c:pt>
                <c:pt idx="14">
                  <c:v>Sep 26</c:v>
                </c:pt>
                <c:pt idx="15">
                  <c:v>Oct 26</c:v>
                </c:pt>
                <c:pt idx="16">
                  <c:v>Nov 26</c:v>
                </c:pt>
                <c:pt idx="17">
                  <c:v>Dec 26</c:v>
                </c:pt>
                <c:pt idx="18">
                  <c:v>Jan 27</c:v>
                </c:pt>
                <c:pt idx="19">
                  <c:v>Feb 27</c:v>
                </c:pt>
                <c:pt idx="20">
                  <c:v>Mar 27</c:v>
                </c:pt>
                <c:pt idx="21">
                  <c:v>Apr 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70</c:v>
                </c:pt>
                <c:pt idx="1">
                  <c:v>80</c:v>
                </c:pt>
                <c:pt idx="2">
                  <c:v>75</c:v>
                </c:pt>
                <c:pt idx="3">
                  <c:v>75</c:v>
                </c:pt>
                <c:pt idx="4">
                  <c:v>80</c:v>
                </c:pt>
                <c:pt idx="5">
                  <c:v>70</c:v>
                </c:pt>
                <c:pt idx="6">
                  <c:v>170</c:v>
                </c:pt>
                <c:pt idx="7">
                  <c:v>175</c:v>
                </c:pt>
                <c:pt idx="8">
                  <c:v>205</c:v>
                </c:pt>
                <c:pt idx="9">
                  <c:v>205</c:v>
                </c:pt>
                <c:pt idx="10">
                  <c:v>165</c:v>
                </c:pt>
                <c:pt idx="11">
                  <c:v>165</c:v>
                </c:pt>
                <c:pt idx="12">
                  <c:v>180</c:v>
                </c:pt>
                <c:pt idx="13">
                  <c:v>190</c:v>
                </c:pt>
                <c:pt idx="14">
                  <c:v>830</c:v>
                </c:pt>
                <c:pt idx="15">
                  <c:v>150</c:v>
                </c:pt>
                <c:pt idx="16">
                  <c:v>145</c:v>
                </c:pt>
                <c:pt idx="17">
                  <c:v>105</c:v>
                </c:pt>
                <c:pt idx="18">
                  <c:v>115</c:v>
                </c:pt>
                <c:pt idx="19">
                  <c:v>265</c:v>
                </c:pt>
                <c:pt idx="20">
                  <c:v>100</c:v>
                </c:pt>
                <c:pt idx="2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F-40D7-AB60-2BD23BA7CC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A6C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C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99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modern-abstract-digital-illustration-of-interconne_2026-04-29T14-13-20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5000"/>
            </a:srgbClr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2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4800" b="1" kern="0" spc="4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 ORDO</a:t>
            </a:r>
            <a:endParaRPr lang="fr-CA" sz="480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2000">
                <a:solidFill>
                  <a:srgbClr val="D0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nouvelle plateforme de gestion des tâches</a:t>
            </a:r>
            <a:endParaRPr lang="fr-CA" sz="200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>
                <a:solidFill>
                  <a:srgbClr val="A3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de TaskStar  ·  Mise en service : 1er mars 2027</a:t>
            </a:r>
            <a:endParaRPr lang="fr-CA" sz="140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00">
                <a:solidFill>
                  <a:srgbClr val="8B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approuvé : 4 015 000 $ CAD</a:t>
            </a:r>
            <a:endParaRPr lang="fr-CA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6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Ordo?</a:t>
            </a:r>
            <a:endParaRPr lang="fr-CA" sz="360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Ordo offrira une solution moderne de suivi des tâches pour remplacer le système TaskStar — et deviendra le système de référence unique pour la gestion des tâches dans l’ensemble de l’organisation.</a:t>
            </a:r>
            <a:endParaRPr lang="fr-CA" sz="1400"/>
          </a:p>
        </p:txBody>
      </p:sp>
      <p:sp>
        <p:nvSpPr>
          <p:cNvPr id="4" name="Shape 2"/>
          <p:cNvSpPr/>
          <p:nvPr/>
        </p:nvSpPr>
        <p:spPr>
          <a:xfrm>
            <a:off x="731520" y="1905676"/>
            <a:ext cx="3657600" cy="1554480"/>
          </a:xfrm>
          <a:prstGeom prst="rect">
            <a:avLst/>
          </a:prstGeom>
          <a:solidFill>
            <a:srgbClr val="F0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960120" y="21799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28972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42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5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COTS configurable</a:t>
            </a:r>
            <a:endParaRPr lang="fr-CA" sz="1500"/>
          </a:p>
        </p:txBody>
      </p:sp>
      <p:sp>
        <p:nvSpPr>
          <p:cNvPr id="8" name="Text 5"/>
          <p:cNvSpPr/>
          <p:nvPr/>
        </p:nvSpPr>
        <p:spPr>
          <a:xfrm>
            <a:off x="1645920" y="254575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commerciale moderne, adaptée à nos besoins organisationnels</a:t>
            </a:r>
            <a:endParaRPr lang="fr-CA" sz="1150"/>
          </a:p>
        </p:txBody>
      </p:sp>
      <p:sp>
        <p:nvSpPr>
          <p:cNvPr id="9" name="Shape 6"/>
          <p:cNvSpPr/>
          <p:nvPr/>
        </p:nvSpPr>
        <p:spPr>
          <a:xfrm>
            <a:off x="4754880" y="1905676"/>
            <a:ext cx="3657600" cy="1554480"/>
          </a:xfrm>
          <a:prstGeom prst="rect">
            <a:avLst/>
          </a:prstGeom>
          <a:solidFill>
            <a:srgbClr val="F0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4983480" y="21799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228972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1342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5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Multilingue</a:t>
            </a:r>
            <a:endParaRPr lang="fr-CA" sz="1500"/>
          </a:p>
        </p:txBody>
      </p:sp>
      <p:sp>
        <p:nvSpPr>
          <p:cNvPr id="13" name="Text 9"/>
          <p:cNvSpPr/>
          <p:nvPr/>
        </p:nvSpPr>
        <p:spPr>
          <a:xfrm>
            <a:off x="5669280" y="254575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complète de l’anglais, du français et de l’espagnol au lancement</a:t>
            </a:r>
            <a:endParaRPr lang="fr-CA" sz="1150"/>
          </a:p>
        </p:txBody>
      </p:sp>
      <p:sp>
        <p:nvSpPr>
          <p:cNvPr id="14" name="Shape 10"/>
          <p:cNvSpPr/>
          <p:nvPr/>
        </p:nvSpPr>
        <p:spPr>
          <a:xfrm>
            <a:off x="731520" y="3589020"/>
            <a:ext cx="3657600" cy="1554480"/>
          </a:xfrm>
          <a:prstGeom prst="rect">
            <a:avLst/>
          </a:prstGeom>
          <a:solidFill>
            <a:srgbClr val="F0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1"/>
          <p:cNvSpPr/>
          <p:nvPr/>
        </p:nvSpPr>
        <p:spPr>
          <a:xfrm>
            <a:off x="960120" y="405451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16424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087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5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Intégration M365 Copilot</a:t>
            </a:r>
            <a:endParaRPr lang="fr-CA" sz="1500"/>
          </a:p>
        </p:txBody>
      </p:sp>
      <p:sp>
        <p:nvSpPr>
          <p:cNvPr id="18" name="Text 13"/>
          <p:cNvSpPr/>
          <p:nvPr/>
        </p:nvSpPr>
        <p:spPr>
          <a:xfrm>
            <a:off x="1645920" y="442027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approfondie avec Microsoft 365 Copilot pour une gestion des tâches assistée par l’IA</a:t>
            </a:r>
            <a:endParaRPr lang="fr-CA" sz="1150"/>
          </a:p>
        </p:txBody>
      </p:sp>
      <p:sp>
        <p:nvSpPr>
          <p:cNvPr id="19" name="Shape 14"/>
          <p:cNvSpPr/>
          <p:nvPr/>
        </p:nvSpPr>
        <p:spPr>
          <a:xfrm>
            <a:off x="4754880" y="3589020"/>
            <a:ext cx="3657600" cy="1554480"/>
          </a:xfrm>
          <a:prstGeom prst="rect">
            <a:avLst/>
          </a:prstGeom>
          <a:solidFill>
            <a:srgbClr val="F0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0" name="Shape 15"/>
          <p:cNvSpPr/>
          <p:nvPr/>
        </p:nvSpPr>
        <p:spPr>
          <a:xfrm>
            <a:off x="4983480" y="405451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416424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40087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5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 sans interruption</a:t>
            </a:r>
            <a:endParaRPr lang="fr-CA" sz="1500"/>
          </a:p>
        </p:txBody>
      </p:sp>
      <p:sp>
        <p:nvSpPr>
          <p:cNvPr id="23" name="Text 17"/>
          <p:cNvSpPr/>
          <p:nvPr/>
        </p:nvSpPr>
        <p:spPr>
          <a:xfrm>
            <a:off x="5669280" y="442027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unique des données de TaskStar sans aucune perte de données</a:t>
            </a:r>
            <a:endParaRPr lang="fr-CA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6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qui change</a:t>
            </a:r>
            <a:endParaRPr lang="fr-CA" sz="360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TaskStar sera mis hors service. Voici ce que vous devez savoir sur la transition.</a:t>
            </a:r>
            <a:endParaRPr lang="fr-CA" sz="1400"/>
          </a:p>
        </p:txBody>
      </p:sp>
      <p:sp>
        <p:nvSpPr>
          <p:cNvPr id="4" name="Shape 2"/>
          <p:cNvSpPr/>
          <p:nvPr/>
        </p:nvSpPr>
        <p:spPr>
          <a:xfrm>
            <a:off x="1234440" y="2491740"/>
            <a:ext cx="6583680" cy="45720"/>
          </a:xfrm>
          <a:prstGeom prst="rect">
            <a:avLst/>
          </a:prstGeom>
          <a:solidFill>
            <a:srgbClr val="E8EDF0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TaskStar</a:t>
            </a:r>
            <a:endParaRPr lang="fr-CA" sz="1050"/>
          </a:p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</a:t>
            </a:r>
            <a:endParaRPr lang="fr-CA" sz="105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9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Fév. 2027</a:t>
            </a:r>
            <a:endParaRPr lang="fr-CA" sz="900"/>
          </a:p>
        </p:txBody>
      </p:sp>
      <p:sp>
        <p:nvSpPr>
          <p:cNvPr id="8" name="Shape 6"/>
          <p:cNvSpPr/>
          <p:nvPr/>
        </p:nvSpPr>
        <p:spPr>
          <a:xfrm>
            <a:off x="2377440" y="201168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219456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</a:t>
            </a:r>
            <a:endParaRPr lang="fr-CA" sz="1050"/>
          </a:p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données</a:t>
            </a:r>
            <a:endParaRPr lang="fr-CA" sz="1050"/>
          </a:p>
        </p:txBody>
      </p:sp>
      <p:sp>
        <p:nvSpPr>
          <p:cNvPr id="10" name="Text 8"/>
          <p:cNvSpPr/>
          <p:nvPr/>
        </p:nvSpPr>
        <p:spPr>
          <a:xfrm>
            <a:off x="21945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9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Fév. 2027</a:t>
            </a:r>
            <a:endParaRPr lang="fr-CA" sz="900"/>
          </a:p>
        </p:txBody>
      </p:sp>
      <p:sp>
        <p:nvSpPr>
          <p:cNvPr id="11" name="Shape 9"/>
          <p:cNvSpPr/>
          <p:nvPr/>
        </p:nvSpPr>
        <p:spPr>
          <a:xfrm>
            <a:off x="4023360" y="2011680"/>
            <a:ext cx="1005840" cy="10058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384048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Ordo</a:t>
            </a:r>
            <a:endParaRPr lang="fr-CA" sz="1050"/>
          </a:p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Mise en service</a:t>
            </a:r>
            <a:endParaRPr lang="fr-CA" sz="1050"/>
          </a:p>
        </p:txBody>
      </p:sp>
      <p:sp>
        <p:nvSpPr>
          <p:cNvPr id="13" name="Text 11"/>
          <p:cNvSpPr/>
          <p:nvPr/>
        </p:nvSpPr>
        <p:spPr>
          <a:xfrm>
            <a:off x="38404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9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mars 2027</a:t>
            </a:r>
            <a:endParaRPr lang="fr-CA" sz="900"/>
          </a:p>
        </p:txBody>
      </p:sp>
      <p:sp>
        <p:nvSpPr>
          <p:cNvPr id="14" name="Shape 12"/>
          <p:cNvSpPr/>
          <p:nvPr/>
        </p:nvSpPr>
        <p:spPr>
          <a:xfrm>
            <a:off x="5669280" y="20116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548640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Soutien</a:t>
            </a:r>
            <a:endParaRPr lang="fr-CA" sz="1050"/>
          </a:p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intensif</a:t>
            </a:r>
            <a:endParaRPr lang="fr-CA" sz="1050"/>
          </a:p>
        </p:txBody>
      </p:sp>
      <p:sp>
        <p:nvSpPr>
          <p:cNvPr id="16" name="Text 14"/>
          <p:cNvSpPr/>
          <p:nvPr/>
        </p:nvSpPr>
        <p:spPr>
          <a:xfrm>
            <a:off x="54864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9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Mars–avr. 2027</a:t>
            </a:r>
            <a:endParaRPr lang="fr-CA" sz="900"/>
          </a:p>
        </p:txBody>
      </p:sp>
      <p:sp>
        <p:nvSpPr>
          <p:cNvPr id="17" name="Shape 15"/>
          <p:cNvSpPr/>
          <p:nvPr/>
        </p:nvSpPr>
        <p:spPr>
          <a:xfrm>
            <a:off x="7315200" y="2011680"/>
            <a:ext cx="1005840" cy="10058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713232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TaskStar</a:t>
            </a:r>
            <a:endParaRPr lang="fr-CA" sz="1050"/>
          </a:p>
          <a:p>
            <a:pPr marL="0" indent="0" algn="ctr">
              <a:buNone/>
            </a:pPr>
            <a:r>
              <a:rPr lang="fr-CA" sz="105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Retrait</a:t>
            </a:r>
            <a:endParaRPr lang="fr-CA" sz="1050"/>
          </a:p>
        </p:txBody>
      </p:sp>
      <p:sp>
        <p:nvSpPr>
          <p:cNvPr id="19" name="Text 17"/>
          <p:cNvSpPr/>
          <p:nvPr/>
        </p:nvSpPr>
        <p:spPr>
          <a:xfrm>
            <a:off x="71323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9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mai 2027</a:t>
            </a:r>
            <a:endParaRPr lang="fr-CA" sz="90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109728" cy="109728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118872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TaskStar cessera d’accepter de nouvelles entrées après la migration unique des données</a:t>
            </a:r>
            <a:endParaRPr lang="fr-CA" sz="1100"/>
          </a:p>
        </p:txBody>
      </p:sp>
      <p:sp>
        <p:nvSpPr>
          <p:cNvPr id="22" name="Shape 20"/>
          <p:cNvSpPr/>
          <p:nvPr/>
        </p:nvSpPr>
        <p:spPr>
          <a:xfrm>
            <a:off x="914400" y="4297680"/>
            <a:ext cx="109728" cy="109728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TaskStar restera en lecture seule jusqu’au 1er mai 2027 à titre de référence</a:t>
            </a:r>
            <a:endParaRPr lang="fr-CA" sz="1100"/>
          </a:p>
        </p:txBody>
      </p:sp>
      <p:sp>
        <p:nvSpPr>
          <p:cNvPr id="24" name="Shape 22"/>
          <p:cNvSpPr/>
          <p:nvPr/>
        </p:nvSpPr>
        <p:spPr>
          <a:xfrm>
            <a:off x="914400" y="4663440"/>
            <a:ext cx="109728" cy="109728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118872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tâches existantes seront disponibles dans Ordo après la migration</a:t>
            </a:r>
            <a:endParaRPr lang="fr-CA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6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Jalons clés</a:t>
            </a:r>
            <a:endParaRPr lang="fr-CA" sz="3600"/>
          </a:p>
        </p:txBody>
      </p:sp>
      <p:sp>
        <p:nvSpPr>
          <p:cNvPr id="3" name="Shape 1"/>
          <p:cNvSpPr/>
          <p:nvPr/>
        </p:nvSpPr>
        <p:spPr>
          <a:xfrm>
            <a:off x="2596896" y="1280160"/>
            <a:ext cx="36576" cy="3017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2551176" y="1216152"/>
            <a:ext cx="128016" cy="128016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1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2025</a:t>
            </a:r>
            <a:endParaRPr lang="fr-CA" sz="110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du projet</a:t>
            </a:r>
            <a:endParaRPr lang="fr-CA" sz="1250"/>
          </a:p>
        </p:txBody>
      </p:sp>
      <p:sp>
        <p:nvSpPr>
          <p:cNvPr id="7" name="Shape 5"/>
          <p:cNvSpPr/>
          <p:nvPr/>
        </p:nvSpPr>
        <p:spPr>
          <a:xfrm>
            <a:off x="2551176" y="17190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1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 2026</a:t>
            </a:r>
            <a:endParaRPr lang="fr-CA" sz="1100"/>
          </a:p>
        </p:txBody>
      </p:sp>
      <p:sp>
        <p:nvSpPr>
          <p:cNvPr id="9" name="Text 7"/>
          <p:cNvSpPr/>
          <p:nvPr/>
        </p:nvSpPr>
        <p:spPr>
          <a:xfrm>
            <a:off x="301752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base terminée</a:t>
            </a:r>
            <a:endParaRPr lang="fr-CA" sz="1250"/>
          </a:p>
        </p:txBody>
      </p:sp>
      <p:sp>
        <p:nvSpPr>
          <p:cNvPr id="10" name="Shape 8"/>
          <p:cNvSpPr/>
          <p:nvPr/>
        </p:nvSpPr>
        <p:spPr>
          <a:xfrm>
            <a:off x="2551176" y="222199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1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Déc. 2026</a:t>
            </a:r>
            <a:endParaRPr lang="fr-CA" sz="1100"/>
          </a:p>
        </p:txBody>
      </p:sp>
      <p:sp>
        <p:nvSpPr>
          <p:cNvPr id="12" name="Text 10"/>
          <p:cNvSpPr/>
          <p:nvPr/>
        </p:nvSpPr>
        <p:spPr>
          <a:xfrm>
            <a:off x="301752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d’acceptation utilisateur terminés</a:t>
            </a:r>
            <a:endParaRPr lang="fr-CA" sz="1250"/>
          </a:p>
        </p:txBody>
      </p:sp>
      <p:sp>
        <p:nvSpPr>
          <p:cNvPr id="13" name="Shape 11"/>
          <p:cNvSpPr/>
          <p:nvPr/>
        </p:nvSpPr>
        <p:spPr>
          <a:xfrm>
            <a:off x="2551176" y="272491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73152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1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Janv. 2027</a:t>
            </a:r>
            <a:endParaRPr lang="fr-CA" sz="110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Copilot et localisation prêtes</a:t>
            </a:r>
            <a:endParaRPr lang="fr-CA" sz="1250"/>
          </a:p>
        </p:txBody>
      </p:sp>
      <p:sp>
        <p:nvSpPr>
          <p:cNvPr id="16" name="Shape 14"/>
          <p:cNvSpPr/>
          <p:nvPr/>
        </p:nvSpPr>
        <p:spPr>
          <a:xfrm>
            <a:off x="2551176" y="32278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73152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1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Fév. 2027</a:t>
            </a:r>
            <a:endParaRPr lang="fr-CA" sz="1100"/>
          </a:p>
        </p:txBody>
      </p:sp>
      <p:sp>
        <p:nvSpPr>
          <p:cNvPr id="18" name="Text 16"/>
          <p:cNvSpPr/>
          <p:nvPr/>
        </p:nvSpPr>
        <p:spPr>
          <a:xfrm>
            <a:off x="301752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de formation prêt (EN/FR/ES)</a:t>
            </a:r>
            <a:endParaRPr lang="fr-CA" sz="1250"/>
          </a:p>
        </p:txBody>
      </p:sp>
      <p:sp>
        <p:nvSpPr>
          <p:cNvPr id="19" name="Shape 17"/>
          <p:cNvSpPr/>
          <p:nvPr/>
        </p:nvSpPr>
        <p:spPr>
          <a:xfrm>
            <a:off x="2523744" y="3703320"/>
            <a:ext cx="182880" cy="18288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1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mars 2027</a:t>
            </a:r>
            <a:endParaRPr lang="fr-CA" sz="1100"/>
          </a:p>
        </p:txBody>
      </p:sp>
      <p:sp>
        <p:nvSpPr>
          <p:cNvPr id="21" name="Text 19"/>
          <p:cNvSpPr/>
          <p:nvPr/>
        </p:nvSpPr>
        <p:spPr>
          <a:xfrm>
            <a:off x="301752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5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 d’Ordo</a:t>
            </a:r>
            <a:endParaRPr lang="fr-CA" sz="1250"/>
          </a:p>
        </p:txBody>
      </p:sp>
      <p:sp>
        <p:nvSpPr>
          <p:cNvPr id="22" name="Shape 20"/>
          <p:cNvSpPr/>
          <p:nvPr/>
        </p:nvSpPr>
        <p:spPr>
          <a:xfrm>
            <a:off x="2551176" y="42336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1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avr. 2027</a:t>
            </a:r>
            <a:endParaRPr lang="fr-CA" sz="1100"/>
          </a:p>
        </p:txBody>
      </p:sp>
      <p:sp>
        <p:nvSpPr>
          <p:cNvPr id="24" name="Text 22"/>
          <p:cNvSpPr/>
          <p:nvPr/>
        </p:nvSpPr>
        <p:spPr>
          <a:xfrm>
            <a:off x="301752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hors service de TaskStar</a:t>
            </a:r>
            <a:endParaRPr lang="fr-CA" sz="125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D0ECE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L’intégration au calendrier Outlook est prévue pour le T3 2027 comme amélioration future</a:t>
            </a:r>
            <a:endParaRPr lang="fr-CA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6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Aperçu du budget</a:t>
            </a:r>
            <a:endParaRPr lang="fr-CA" sz="360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approuvé : 4 015 000 $ CAD</a:t>
            </a:r>
            <a:endParaRPr lang="fr-CA" sz="140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37160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508760"/>
            <a:ext cx="164592" cy="16459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512064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fr-CA" sz="1000"/>
          </a:p>
        </p:txBody>
      </p:sp>
      <p:sp>
        <p:nvSpPr>
          <p:cNvPr id="7" name="Text 4"/>
          <p:cNvSpPr/>
          <p:nvPr/>
        </p:nvSpPr>
        <p:spPr>
          <a:xfrm>
            <a:off x="7680960" y="1463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 K $</a:t>
            </a:r>
            <a:endParaRPr lang="fr-CA" sz="1000"/>
          </a:p>
        </p:txBody>
      </p:sp>
      <p:sp>
        <p:nvSpPr>
          <p:cNvPr id="8" name="Shape 5"/>
          <p:cNvSpPr/>
          <p:nvPr/>
        </p:nvSpPr>
        <p:spPr>
          <a:xfrm>
            <a:off x="4846320" y="185623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/>
          <p:nvPr/>
        </p:nvSpPr>
        <p:spPr>
          <a:xfrm>
            <a:off x="512064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COTS</a:t>
            </a:r>
            <a:endParaRPr lang="fr-CA" sz="1000"/>
          </a:p>
        </p:txBody>
      </p:sp>
      <p:sp>
        <p:nvSpPr>
          <p:cNvPr id="10" name="Text 7"/>
          <p:cNvSpPr/>
          <p:nvPr/>
        </p:nvSpPr>
        <p:spPr>
          <a:xfrm>
            <a:off x="7680960" y="1810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 K $</a:t>
            </a:r>
            <a:endParaRPr lang="fr-CA" sz="1000"/>
          </a:p>
        </p:txBody>
      </p:sp>
      <p:sp>
        <p:nvSpPr>
          <p:cNvPr id="11" name="Shape 8"/>
          <p:cNvSpPr/>
          <p:nvPr/>
        </p:nvSpPr>
        <p:spPr>
          <a:xfrm>
            <a:off x="4846320" y="2203704"/>
            <a:ext cx="164592" cy="164592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9"/>
          <p:cNvSpPr/>
          <p:nvPr/>
        </p:nvSpPr>
        <p:spPr>
          <a:xfrm>
            <a:off x="5120640" y="2157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personnalisées</a:t>
            </a:r>
            <a:endParaRPr lang="fr-CA" sz="1000"/>
          </a:p>
        </p:txBody>
      </p:sp>
      <p:sp>
        <p:nvSpPr>
          <p:cNvPr id="13" name="Text 10"/>
          <p:cNvSpPr/>
          <p:nvPr/>
        </p:nvSpPr>
        <p:spPr>
          <a:xfrm>
            <a:off x="7680960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485 K $</a:t>
            </a:r>
            <a:endParaRPr lang="fr-CA" sz="1000"/>
          </a:p>
        </p:txBody>
      </p:sp>
      <p:sp>
        <p:nvSpPr>
          <p:cNvPr id="14" name="Shape 11"/>
          <p:cNvSpPr/>
          <p:nvPr/>
        </p:nvSpPr>
        <p:spPr>
          <a:xfrm>
            <a:off x="4846320" y="2551176"/>
            <a:ext cx="164592" cy="164592"/>
          </a:xfrm>
          <a:prstGeom prst="rect">
            <a:avLst/>
          </a:prstGeom>
          <a:solidFill>
            <a:srgbClr val="2D8B75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5" name="Text 12"/>
          <p:cNvSpPr/>
          <p:nvPr/>
        </p:nvSpPr>
        <p:spPr>
          <a:xfrm>
            <a:off x="5120640" y="2505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base</a:t>
            </a:r>
            <a:endParaRPr lang="fr-CA" sz="1000"/>
          </a:p>
        </p:txBody>
      </p:sp>
      <p:sp>
        <p:nvSpPr>
          <p:cNvPr id="16" name="Text 13"/>
          <p:cNvSpPr/>
          <p:nvPr/>
        </p:nvSpPr>
        <p:spPr>
          <a:xfrm>
            <a:off x="7680960" y="25054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 K $</a:t>
            </a:r>
            <a:endParaRPr lang="fr-CA" sz="1000"/>
          </a:p>
        </p:txBody>
      </p:sp>
      <p:sp>
        <p:nvSpPr>
          <p:cNvPr id="17" name="Shape 14"/>
          <p:cNvSpPr/>
          <p:nvPr/>
        </p:nvSpPr>
        <p:spPr>
          <a:xfrm>
            <a:off x="4846320" y="2898648"/>
            <a:ext cx="164592" cy="16459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8" name="Text 15"/>
          <p:cNvSpPr/>
          <p:nvPr/>
        </p:nvSpPr>
        <p:spPr>
          <a:xfrm>
            <a:off x="5120640" y="2852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(conception + dév.)</a:t>
            </a:r>
            <a:endParaRPr lang="fr-CA" sz="1000"/>
          </a:p>
        </p:txBody>
      </p:sp>
      <p:sp>
        <p:nvSpPr>
          <p:cNvPr id="19" name="Text 16"/>
          <p:cNvSpPr/>
          <p:nvPr/>
        </p:nvSpPr>
        <p:spPr>
          <a:xfrm>
            <a:off x="7680960" y="28529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 K $</a:t>
            </a:r>
            <a:endParaRPr lang="fr-CA" sz="1000"/>
          </a:p>
        </p:txBody>
      </p:sp>
      <p:sp>
        <p:nvSpPr>
          <p:cNvPr id="20" name="Shape 17"/>
          <p:cNvSpPr/>
          <p:nvPr/>
        </p:nvSpPr>
        <p:spPr>
          <a:xfrm>
            <a:off x="4846320" y="3246120"/>
            <a:ext cx="164592" cy="164592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1" name="Text 18"/>
          <p:cNvSpPr/>
          <p:nvPr/>
        </p:nvSpPr>
        <p:spPr>
          <a:xfrm>
            <a:off x="5120640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COTS</a:t>
            </a:r>
            <a:endParaRPr lang="fr-CA" sz="1000"/>
          </a:p>
        </p:txBody>
      </p:sp>
      <p:sp>
        <p:nvSpPr>
          <p:cNvPr id="22" name="Text 19"/>
          <p:cNvSpPr/>
          <p:nvPr/>
        </p:nvSpPr>
        <p:spPr>
          <a:xfrm>
            <a:off x="7680960" y="3200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 K $</a:t>
            </a:r>
            <a:endParaRPr lang="fr-CA" sz="1000"/>
          </a:p>
        </p:txBody>
      </p:sp>
      <p:sp>
        <p:nvSpPr>
          <p:cNvPr id="23" name="Shape 20"/>
          <p:cNvSpPr/>
          <p:nvPr/>
        </p:nvSpPr>
        <p:spPr>
          <a:xfrm>
            <a:off x="4846320" y="3593592"/>
            <a:ext cx="164592" cy="164592"/>
          </a:xfrm>
          <a:prstGeom prst="rect">
            <a:avLst/>
          </a:prstGeom>
          <a:solidFill>
            <a:srgbClr val="5A6C7D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4" name="Text 21"/>
          <p:cNvSpPr/>
          <p:nvPr/>
        </p:nvSpPr>
        <p:spPr>
          <a:xfrm>
            <a:off x="5120640" y="3547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+ migration</a:t>
            </a:r>
            <a:endParaRPr lang="fr-CA" sz="1000"/>
          </a:p>
        </p:txBody>
      </p:sp>
      <p:sp>
        <p:nvSpPr>
          <p:cNvPr id="25" name="Text 22"/>
          <p:cNvSpPr/>
          <p:nvPr/>
        </p:nvSpPr>
        <p:spPr>
          <a:xfrm>
            <a:off x="7680960" y="35478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 K $</a:t>
            </a:r>
            <a:endParaRPr lang="fr-CA" sz="1000"/>
          </a:p>
        </p:txBody>
      </p:sp>
      <p:sp>
        <p:nvSpPr>
          <p:cNvPr id="26" name="Shape 23"/>
          <p:cNvSpPr/>
          <p:nvPr/>
        </p:nvSpPr>
        <p:spPr>
          <a:xfrm>
            <a:off x="4846320" y="3941064"/>
            <a:ext cx="164592" cy="164592"/>
          </a:xfrm>
          <a:prstGeom prst="rect">
            <a:avLst/>
          </a:prstGeom>
          <a:solidFill>
            <a:srgbClr val="8BA4B5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7" name="Text 24"/>
          <p:cNvSpPr/>
          <p:nvPr/>
        </p:nvSpPr>
        <p:spPr>
          <a:xfrm>
            <a:off x="5120640" y="3895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fr-CA" sz="1000"/>
          </a:p>
        </p:txBody>
      </p:sp>
      <p:sp>
        <p:nvSpPr>
          <p:cNvPr id="28" name="Text 25"/>
          <p:cNvSpPr/>
          <p:nvPr/>
        </p:nvSpPr>
        <p:spPr>
          <a:xfrm>
            <a:off x="7680960" y="38953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 K $</a:t>
            </a:r>
            <a:endParaRPr lang="fr-CA" sz="1000"/>
          </a:p>
        </p:txBody>
      </p:sp>
      <p:sp>
        <p:nvSpPr>
          <p:cNvPr id="29" name="Shape 26"/>
          <p:cNvSpPr/>
          <p:nvPr/>
        </p:nvSpPr>
        <p:spPr>
          <a:xfrm>
            <a:off x="4846320" y="4288536"/>
            <a:ext cx="164592" cy="16459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0" name="Text 27"/>
          <p:cNvSpPr/>
          <p:nvPr/>
        </p:nvSpPr>
        <p:spPr>
          <a:xfrm>
            <a:off x="5120640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formation</a:t>
            </a:r>
            <a:endParaRPr lang="fr-CA" sz="1000"/>
          </a:p>
        </p:txBody>
      </p:sp>
      <p:sp>
        <p:nvSpPr>
          <p:cNvPr id="31" name="Text 28"/>
          <p:cNvSpPr/>
          <p:nvPr/>
        </p:nvSpPr>
        <p:spPr>
          <a:xfrm>
            <a:off x="7680960" y="4242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 K $</a:t>
            </a:r>
            <a:endParaRPr lang="fr-CA" sz="1000"/>
          </a:p>
        </p:txBody>
      </p:sp>
      <p:sp>
        <p:nvSpPr>
          <p:cNvPr id="32" name="Shape 29"/>
          <p:cNvSpPr/>
          <p:nvPr/>
        </p:nvSpPr>
        <p:spPr>
          <a:xfrm>
            <a:off x="4846320" y="4636008"/>
            <a:ext cx="164592" cy="164592"/>
          </a:xfrm>
          <a:prstGeom prst="rect">
            <a:avLst/>
          </a:prstGeom>
          <a:solidFill>
            <a:srgbClr val="A3C4D4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3" name="Text 30"/>
          <p:cNvSpPr/>
          <p:nvPr/>
        </p:nvSpPr>
        <p:spPr>
          <a:xfrm>
            <a:off x="5120640" y="4590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et conformité</a:t>
            </a:r>
            <a:endParaRPr lang="fr-CA" sz="1000"/>
          </a:p>
        </p:txBody>
      </p:sp>
      <p:sp>
        <p:nvSpPr>
          <p:cNvPr id="34" name="Text 31"/>
          <p:cNvSpPr/>
          <p:nvPr/>
        </p:nvSpPr>
        <p:spPr>
          <a:xfrm>
            <a:off x="7680960" y="4590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CA" sz="1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 K $</a:t>
            </a:r>
            <a:endParaRPr lang="fr-CA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6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des dépenses mensuelles</a:t>
            </a:r>
            <a:endParaRPr lang="fr-CA" sz="360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milliers de dollars CAD — Juillet 2025 à avril 2027</a:t>
            </a:r>
            <a:endParaRPr lang="fr-CA" sz="120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900" b="1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COTS</a:t>
            </a:r>
            <a:endParaRPr lang="fr-CA" sz="900"/>
          </a:p>
          <a:p>
            <a:pPr marL="0" indent="0" algn="ctr">
              <a:buNone/>
            </a:pPr>
            <a:r>
              <a:rPr lang="fr-CA" sz="900" b="1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fr-CA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6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Votre équipe de projet</a:t>
            </a:r>
            <a:endParaRPr lang="fr-CA" sz="3600"/>
          </a:p>
        </p:txBody>
      </p:sp>
      <p:pic>
        <p:nvPicPr>
          <p:cNvPr id="3" name="Image 0" descr="/agent/turn1/workspace/images/professional-photograph-of-a-diverse-corporate-tea_2026-04-29T14-14-27_image_DAS_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274320"/>
            <a:ext cx="3017520" cy="2011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371600"/>
            <a:ext cx="4754880" cy="658368"/>
          </a:xfrm>
          <a:prstGeom prst="rect">
            <a:avLst/>
          </a:prstGeom>
          <a:solidFill>
            <a:srgbClr val="F0F5F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64008" cy="65836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100584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Irvin Sayers</a:t>
            </a:r>
            <a:endParaRPr lang="fr-CA" sz="1300"/>
          </a:p>
        </p:txBody>
      </p:sp>
      <p:sp>
        <p:nvSpPr>
          <p:cNvPr id="7" name="Text 4"/>
          <p:cNvSpPr/>
          <p:nvPr/>
        </p:nvSpPr>
        <p:spPr>
          <a:xfrm>
            <a:off x="2834640" y="1444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 b="1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</a:t>
            </a:r>
            <a:endParaRPr lang="fr-CA" sz="1000"/>
          </a:p>
        </p:txBody>
      </p:sp>
      <p:sp>
        <p:nvSpPr>
          <p:cNvPr id="8" name="Text 5"/>
          <p:cNvSpPr/>
          <p:nvPr/>
        </p:nvSpPr>
        <p:spPr>
          <a:xfrm>
            <a:off x="1005840" y="17099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la coordination et la livraison quotidienne du projet</a:t>
            </a:r>
            <a:endParaRPr lang="fr-CA" sz="1000"/>
          </a:p>
        </p:txBody>
      </p:sp>
      <p:sp>
        <p:nvSpPr>
          <p:cNvPr id="9" name="Shape 6"/>
          <p:cNvSpPr/>
          <p:nvPr/>
        </p:nvSpPr>
        <p:spPr>
          <a:xfrm>
            <a:off x="731520" y="2139696"/>
            <a:ext cx="47548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731520" y="2139696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1" name="Text 8"/>
          <p:cNvSpPr/>
          <p:nvPr/>
        </p:nvSpPr>
        <p:spPr>
          <a:xfrm>
            <a:off x="10058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Nestor Wilke</a:t>
            </a:r>
            <a:endParaRPr lang="fr-CA" sz="1300"/>
          </a:p>
        </p:txBody>
      </p:sp>
      <p:sp>
        <p:nvSpPr>
          <p:cNvPr id="12" name="Text 9"/>
          <p:cNvSpPr/>
          <p:nvPr/>
        </p:nvSpPr>
        <p:spPr>
          <a:xfrm>
            <a:off x="2834640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 b="1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et commanditaire</a:t>
            </a:r>
            <a:endParaRPr lang="fr-CA" sz="1000"/>
          </a:p>
        </p:txBody>
      </p:sp>
      <p:sp>
        <p:nvSpPr>
          <p:cNvPr id="13" name="Text 10"/>
          <p:cNvSpPr/>
          <p:nvPr/>
        </p:nvSpPr>
        <p:spPr>
          <a:xfrm>
            <a:off x="1005840" y="24780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Commanditaire exécutif responsable des décisions stratégiques</a:t>
            </a:r>
            <a:endParaRPr lang="fr-CA" sz="1000"/>
          </a:p>
        </p:txBody>
      </p:sp>
      <p:sp>
        <p:nvSpPr>
          <p:cNvPr id="14" name="Shape 11"/>
          <p:cNvSpPr/>
          <p:nvPr/>
        </p:nvSpPr>
        <p:spPr>
          <a:xfrm>
            <a:off x="731520" y="2907792"/>
            <a:ext cx="4754880" cy="658368"/>
          </a:xfrm>
          <a:prstGeom prst="rect">
            <a:avLst/>
          </a:prstGeom>
          <a:solidFill>
            <a:srgbClr val="F0F5F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5" name="Shape 12"/>
          <p:cNvSpPr/>
          <p:nvPr/>
        </p:nvSpPr>
        <p:spPr>
          <a:xfrm>
            <a:off x="731520" y="2907792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Text 13"/>
          <p:cNvSpPr/>
          <p:nvPr/>
        </p:nvSpPr>
        <p:spPr>
          <a:xfrm>
            <a:off x="1005840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Diego Siciliani</a:t>
            </a:r>
            <a:endParaRPr lang="fr-CA" sz="1300"/>
          </a:p>
        </p:txBody>
      </p:sp>
      <p:sp>
        <p:nvSpPr>
          <p:cNvPr id="17" name="Text 14"/>
          <p:cNvSpPr/>
          <p:nvPr/>
        </p:nvSpPr>
        <p:spPr>
          <a:xfrm>
            <a:off x="2834640" y="2980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 b="1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changement</a:t>
            </a:r>
            <a:endParaRPr lang="fr-CA" sz="1000"/>
          </a:p>
        </p:txBody>
      </p:sp>
      <p:sp>
        <p:nvSpPr>
          <p:cNvPr id="18" name="Text 15"/>
          <p:cNvSpPr/>
          <p:nvPr/>
        </p:nvSpPr>
        <p:spPr>
          <a:xfrm>
            <a:off x="1005840" y="3246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 la préparation organisationnelle, les communications et la formation</a:t>
            </a:r>
            <a:endParaRPr lang="fr-CA" sz="1000"/>
          </a:p>
        </p:txBody>
      </p:sp>
      <p:sp>
        <p:nvSpPr>
          <p:cNvPr id="19" name="Shape 16"/>
          <p:cNvSpPr/>
          <p:nvPr/>
        </p:nvSpPr>
        <p:spPr>
          <a:xfrm>
            <a:off x="731520" y="3675888"/>
            <a:ext cx="475488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0" name="Shape 17"/>
          <p:cNvSpPr/>
          <p:nvPr/>
        </p:nvSpPr>
        <p:spPr>
          <a:xfrm>
            <a:off x="731520" y="3675888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1" name="Text 18"/>
          <p:cNvSpPr/>
          <p:nvPr/>
        </p:nvSpPr>
        <p:spPr>
          <a:xfrm>
            <a:off x="10058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Lidia Holloway</a:t>
            </a:r>
            <a:endParaRPr lang="fr-CA" sz="1300"/>
          </a:p>
        </p:txBody>
      </p:sp>
      <p:sp>
        <p:nvSpPr>
          <p:cNvPr id="22" name="Text 19"/>
          <p:cNvSpPr/>
          <p:nvPr/>
        </p:nvSpPr>
        <p:spPr>
          <a:xfrm>
            <a:off x="28346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 b="1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produit</a:t>
            </a:r>
            <a:endParaRPr lang="fr-CA" sz="1000"/>
          </a:p>
        </p:txBody>
      </p:sp>
      <p:sp>
        <p:nvSpPr>
          <p:cNvPr id="23" name="Text 20"/>
          <p:cNvSpPr/>
          <p:nvPr/>
        </p:nvSpPr>
        <p:spPr>
          <a:xfrm>
            <a:off x="1005840" y="40142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exigences et la configuration du produit</a:t>
            </a:r>
            <a:endParaRPr lang="fr-CA" sz="1000"/>
          </a:p>
        </p:txBody>
      </p:sp>
      <p:sp>
        <p:nvSpPr>
          <p:cNvPr id="24" name="Shape 21"/>
          <p:cNvSpPr/>
          <p:nvPr/>
        </p:nvSpPr>
        <p:spPr>
          <a:xfrm>
            <a:off x="731520" y="4443984"/>
            <a:ext cx="4754880" cy="658368"/>
          </a:xfrm>
          <a:prstGeom prst="rect">
            <a:avLst/>
          </a:prstGeom>
          <a:solidFill>
            <a:srgbClr val="F0F5F7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5" name="Shape 22"/>
          <p:cNvSpPr/>
          <p:nvPr/>
        </p:nvSpPr>
        <p:spPr>
          <a:xfrm>
            <a:off x="731520" y="4443984"/>
            <a:ext cx="64008" cy="65836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6" name="Text 23"/>
          <p:cNvSpPr/>
          <p:nvPr/>
        </p:nvSpPr>
        <p:spPr>
          <a:xfrm>
            <a:off x="1005840" y="4517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Allan Deyoung</a:t>
            </a:r>
            <a:endParaRPr lang="fr-CA" sz="1300"/>
          </a:p>
        </p:txBody>
      </p:sp>
      <p:sp>
        <p:nvSpPr>
          <p:cNvPr id="27" name="Text 24"/>
          <p:cNvSpPr/>
          <p:nvPr/>
        </p:nvSpPr>
        <p:spPr>
          <a:xfrm>
            <a:off x="2834640" y="4517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 b="1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et vie privée</a:t>
            </a:r>
            <a:endParaRPr lang="fr-CA" sz="1000"/>
          </a:p>
        </p:txBody>
      </p:sp>
      <p:sp>
        <p:nvSpPr>
          <p:cNvPr id="28" name="Text 25"/>
          <p:cNvSpPr/>
          <p:nvPr/>
        </p:nvSpPr>
        <p:spPr>
          <a:xfrm>
            <a:off x="1005840" y="4782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00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 la sécurité de l’information et la conformité</a:t>
            </a:r>
            <a:endParaRPr lang="fr-CA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6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Risques clés et mesures d’atténuation</a:t>
            </a:r>
            <a:endParaRPr lang="fr-CA" sz="360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1005840" y="13533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261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Résistance des utilisateurs au changement</a:t>
            </a:r>
            <a:endParaRPr lang="fr-CA" sz="1300"/>
          </a:p>
        </p:txBody>
      </p:sp>
      <p:sp>
        <p:nvSpPr>
          <p:cNvPr id="7" name="Text 4"/>
          <p:cNvSpPr/>
          <p:nvPr/>
        </p:nvSpPr>
        <p:spPr>
          <a:xfrm>
            <a:off x="16916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de communication précoces et matériel de formation multilingue en anglais, en français et en espagnol</a:t>
            </a:r>
            <a:endParaRPr lang="fr-CA" sz="1100"/>
          </a:p>
        </p:txBody>
      </p:sp>
      <p:sp>
        <p:nvSpPr>
          <p:cNvPr id="8" name="Shape 5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Shape 6"/>
          <p:cNvSpPr/>
          <p:nvPr/>
        </p:nvSpPr>
        <p:spPr>
          <a:xfrm>
            <a:off x="1005840" y="22219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317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130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Problèmes de migration des données</a:t>
            </a:r>
            <a:endParaRPr lang="fr-CA" sz="1300"/>
          </a:p>
        </p:txBody>
      </p:sp>
      <p:sp>
        <p:nvSpPr>
          <p:cNvPr id="12" name="Text 8"/>
          <p:cNvSpPr/>
          <p:nvPr/>
        </p:nvSpPr>
        <p:spPr>
          <a:xfrm>
            <a:off x="169164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de test validées prévues avant le basculement en production de février 2027</a:t>
            </a:r>
            <a:endParaRPr lang="fr-CA" sz="1100"/>
          </a:p>
        </p:txBody>
      </p:sp>
      <p:sp>
        <p:nvSpPr>
          <p:cNvPr id="13" name="Shape 9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4" name="Shape 10"/>
          <p:cNvSpPr/>
          <p:nvPr/>
        </p:nvSpPr>
        <p:spPr>
          <a:xfrm>
            <a:off x="1005840" y="30906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2004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2999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Retards dans l’intégration de Copilot</a:t>
            </a:r>
            <a:endParaRPr lang="fr-CA" sz="1300"/>
          </a:p>
        </p:txBody>
      </p:sp>
      <p:sp>
        <p:nvSpPr>
          <p:cNvPr id="17" name="Text 12"/>
          <p:cNvSpPr/>
          <p:nvPr/>
        </p:nvSpPr>
        <p:spPr>
          <a:xfrm>
            <a:off x="169164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absolue — équipe dédiée et phase de conception anticipée</a:t>
            </a:r>
            <a:endParaRPr lang="fr-CA" sz="1100"/>
          </a:p>
        </p:txBody>
      </p:sp>
      <p:sp>
        <p:nvSpPr>
          <p:cNvPr id="18" name="Shape 13"/>
          <p:cNvSpPr/>
          <p:nvPr/>
        </p:nvSpPr>
        <p:spPr>
          <a:xfrm>
            <a:off x="731520" y="37947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Shape 14"/>
          <p:cNvSpPr/>
          <p:nvPr/>
        </p:nvSpPr>
        <p:spPr>
          <a:xfrm>
            <a:off x="1005840" y="39593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06908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3867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 b="1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Localisation incomplète</a:t>
            </a:r>
            <a:endParaRPr lang="fr-CA" sz="1300"/>
          </a:p>
        </p:txBody>
      </p:sp>
      <p:sp>
        <p:nvSpPr>
          <p:cNvPr id="22" name="Text 16"/>
          <p:cNvSpPr/>
          <p:nvPr/>
        </p:nvSpPr>
        <p:spPr>
          <a:xfrm>
            <a:off x="169164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linguistique définie tôt avec des points de validation avant la mise en service</a:t>
            </a:r>
            <a:endParaRPr lang="fr-CA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critères de succès</a:t>
            </a:r>
            <a:endParaRPr lang="fr-CA" sz="360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3600" b="1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90 %</a:t>
            </a:r>
            <a:endParaRPr lang="fr-CA" sz="360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10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utilisateurs actifs adoptent Ordo dans les 3 mois suivant la mise en service</a:t>
            </a:r>
            <a:endParaRPr lang="fr-CA" sz="1100"/>
          </a:p>
        </p:txBody>
      </p:sp>
      <p:sp>
        <p:nvSpPr>
          <p:cNvPr id="6" name="Shape 4"/>
          <p:cNvSpPr/>
          <p:nvPr/>
        </p:nvSpPr>
        <p:spPr>
          <a:xfrm>
            <a:off x="3429000" y="12801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42900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3600" b="1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100 %</a:t>
            </a:r>
            <a:endParaRPr lang="fr-CA" sz="3600"/>
          </a:p>
        </p:txBody>
      </p:sp>
      <p:sp>
        <p:nvSpPr>
          <p:cNvPr id="8" name="Text 6"/>
          <p:cNvSpPr/>
          <p:nvPr/>
        </p:nvSpPr>
        <p:spPr>
          <a:xfrm>
            <a:off x="370332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10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TaskStar disponibles après la migration</a:t>
            </a:r>
            <a:endParaRPr lang="fr-CA" sz="110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6309360" y="1463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3600" b="1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 1</a:t>
            </a:r>
            <a:endParaRPr lang="fr-CA" sz="360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10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utilisable au lancement</a:t>
            </a:r>
            <a:endParaRPr lang="fr-CA" sz="110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3600" b="1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langues</a:t>
            </a:r>
            <a:endParaRPr lang="fr-CA" sz="360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10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Anglais, français et espagnol dès le premier jour</a:t>
            </a:r>
            <a:endParaRPr lang="fr-CA" sz="1100"/>
          </a:p>
        </p:txBody>
      </p:sp>
      <p:sp>
        <p:nvSpPr>
          <p:cNvPr id="15" name="Shape 13"/>
          <p:cNvSpPr/>
          <p:nvPr/>
        </p:nvSpPr>
        <p:spPr>
          <a:xfrm>
            <a:off x="3429000" y="2880360"/>
            <a:ext cx="2651760" cy="1371600"/>
          </a:xfrm>
          <a:prstGeom prst="rect">
            <a:avLst/>
          </a:prstGeom>
          <a:solidFill>
            <a:srgbClr val="0B4A6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3429000" y="3063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3600" b="1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Zéro</a:t>
            </a:r>
            <a:endParaRPr lang="fr-CA" sz="3600"/>
          </a:p>
        </p:txBody>
      </p:sp>
      <p:sp>
        <p:nvSpPr>
          <p:cNvPr id="17" name="Text 15"/>
          <p:cNvSpPr/>
          <p:nvPr/>
        </p:nvSpPr>
        <p:spPr>
          <a:xfrm>
            <a:off x="370332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CA" sz="110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 des activités lors du retrait de TaskStar</a:t>
            </a:r>
            <a:endParaRPr lang="fr-CA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art-showing-data-migration-concep_2026-04-29T14-13-25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4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Préparez-vous pour Ordo</a:t>
            </a:r>
            <a:endParaRPr lang="fr-CA" sz="440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800">
                <a:solidFill>
                  <a:srgbClr val="D0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façon plus simple et plus intelligente de gérer vos tâches — lancement le 1er mars 2027</a:t>
            </a:r>
            <a:endParaRPr lang="fr-CA" sz="180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300">
                <a:solidFill>
                  <a:srgbClr val="A3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questions? Communiquez avec l’équipe du projet Ordo</a:t>
            </a:r>
            <a:endParaRPr lang="fr-CA" sz="1300"/>
          </a:p>
          <a:p>
            <a:pPr marL="0" indent="0">
              <a:buNone/>
            </a:pPr>
            <a:r>
              <a:rPr lang="fr-CA" sz="1300">
                <a:solidFill>
                  <a:srgbClr val="A3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 : Irvin Sayers  ·  Commanditaire : Nestor Wilke (DIT)</a:t>
            </a:r>
            <a:endParaRPr lang="fr-CA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626</Words>
  <Application>Microsoft Office PowerPoint</Application>
  <PresentationFormat>Affichage à l'écran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Jean-François Bilodeau</dc:creator>
  <cp:lastModifiedBy>Jean-François Bilodeau</cp:lastModifiedBy>
  <cp:revision>2</cp:revision>
  <dcterms:created xsi:type="dcterms:W3CDTF">2026-04-29T14:10:39Z</dcterms:created>
  <dcterms:modified xsi:type="dcterms:W3CDTF">2026-06-02T14:57:13Z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 Office:8</vt:lpwstr>
  </property>
  <property fmtid="{D5CDD505-2E9C-101B-9397-08002B2CF9AE}" pid="3" name="ClassificationContentMarkingFooterText">
    <vt:lpwstr>Classified as Microsoft Confidential</vt:lpwstr>
  </property>
</Properties>
</file>